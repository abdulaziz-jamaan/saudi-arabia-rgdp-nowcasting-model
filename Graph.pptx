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47"/>
  </p:normalViewPr>
  <p:slideViewPr>
    <p:cSldViewPr snapToGrid="0">
      <p:cViewPr>
        <p:scale>
          <a:sx n="104" d="100"/>
          <a:sy n="104" d="100"/>
        </p:scale>
        <p:origin x="744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eb83926c8b686df/Database/Mod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5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050" b="1" i="0" u="none" strike="noStrike" baseline="0" dirty="0">
                <a:solidFill>
                  <a:schemeClr val="tx1"/>
                </a:solidFill>
              </a:rPr>
              <a:t>Real GDP Growth Rate %</a:t>
            </a:r>
            <a:endParaRPr lang="en-US" sz="105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43085799055029478"/>
          <c:y val="5.4143317361054714E-3"/>
        </c:manualLayout>
      </c:layout>
      <c:overlay val="0"/>
      <c:spPr>
        <a:noFill/>
        <a:ln w="635"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SA"/>
        </a:p>
      </c:txPr>
    </c:title>
    <c:autoTitleDeleted val="0"/>
    <c:plotArea>
      <c:layout>
        <c:manualLayout>
          <c:layoutTarget val="inner"/>
          <c:xMode val="edge"/>
          <c:yMode val="edge"/>
          <c:x val="2.8320887533702908E-2"/>
          <c:y val="0.12923434314883464"/>
          <c:w val="0.94735034960167697"/>
          <c:h val="0.77451567843388536"/>
        </c:manualLayout>
      </c:layout>
      <c:lineChart>
        <c:grouping val="standard"/>
        <c:varyColors val="0"/>
        <c:ser>
          <c:idx val="0"/>
          <c:order val="0"/>
          <c:tx>
            <c:strRef>
              <c:f>Model!$N$1</c:f>
              <c:strCache>
                <c:ptCount val="1"/>
                <c:pt idx="0">
                  <c:v>GDP YoY Growth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dPt>
            <c:idx val="36"/>
            <c:marker>
              <c:symbol val="none"/>
            </c:marker>
            <c:bubble3D val="0"/>
            <c:spPr>
              <a:ln w="28575" cap="rnd">
                <a:solidFill>
                  <a:srgbClr val="00206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54-1C4E-A4DA-2B1E9D41286C}"/>
              </c:ext>
            </c:extLst>
          </c:dPt>
          <c:dLbls>
            <c:dLbl>
              <c:idx val="13"/>
              <c:layout>
                <c:manualLayout>
                  <c:x val="-2.0180888204500414E-2"/>
                  <c:y val="4.564076762739893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70C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SA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4BD-3441-80C6-247BC11A2004}"/>
                </c:ext>
              </c:extLst>
            </c:dLbl>
            <c:dLbl>
              <c:idx val="21"/>
              <c:layout>
                <c:manualLayout>
                  <c:x val="-1.6817406837083725E-2"/>
                  <c:y val="-4.278821965068642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20DDF64-5558-104C-9F6E-FA0912A8B06D}" type="VALUE">
                      <a:rPr lang="en-US" smtClean="0">
                        <a:solidFill>
                          <a:srgbClr val="0070C0"/>
                        </a:solidFill>
                      </a:rPr>
                      <a:pPr>
                        <a:defRPr sz="900" b="1">
                          <a:solidFill>
                            <a:srgbClr val="0070C0"/>
                          </a:solidFill>
                        </a:defRPr>
                      </a:pPr>
                      <a:t>[VALUE]</a:t>
                    </a:fld>
                    <a:r>
                      <a:rPr lang="en-US" dirty="0">
                        <a:solidFill>
                          <a:srgbClr val="0070C0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70C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SA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C4BD-3441-80C6-247BC11A2004}"/>
                </c:ext>
              </c:extLst>
            </c:dLbl>
            <c:dLbl>
              <c:idx val="36"/>
              <c:layout>
                <c:manualLayout>
                  <c:x val="-1.6854749425493545E-2"/>
                  <c:y val="3.1065370516782761E-2"/>
                </c:manualLayout>
              </c:layout>
              <c:tx>
                <c:rich>
                  <a:bodyPr/>
                  <a:lstStyle/>
                  <a:p>
                    <a:fld id="{A243580C-3492-AD4B-89C4-9628708DA664}" type="VALUE">
                      <a:rPr lang="en-US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554-1C4E-A4DA-2B1E9D41286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SA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Model!$B$2:$B$38</c:f>
              <c:strCache>
                <c:ptCount val="37"/>
                <c:pt idx="0">
                  <c:v>2017Q1</c:v>
                </c:pt>
                <c:pt idx="1">
                  <c:v>2017Q2</c:v>
                </c:pt>
                <c:pt idx="2">
                  <c:v>2017Q3</c:v>
                </c:pt>
                <c:pt idx="3">
                  <c:v>2017Q4</c:v>
                </c:pt>
                <c:pt idx="4">
                  <c:v>2018Q1</c:v>
                </c:pt>
                <c:pt idx="5">
                  <c:v>2018Q2</c:v>
                </c:pt>
                <c:pt idx="6">
                  <c:v>2018Q3</c:v>
                </c:pt>
                <c:pt idx="7">
                  <c:v>2018Q4</c:v>
                </c:pt>
                <c:pt idx="8">
                  <c:v>2019Q1</c:v>
                </c:pt>
                <c:pt idx="9">
                  <c:v>2019Q2</c:v>
                </c:pt>
                <c:pt idx="10">
                  <c:v>2019Q3</c:v>
                </c:pt>
                <c:pt idx="11">
                  <c:v>2019Q4</c:v>
                </c:pt>
                <c:pt idx="12">
                  <c:v>2020Q1</c:v>
                </c:pt>
                <c:pt idx="13">
                  <c:v>2020Q2</c:v>
                </c:pt>
                <c:pt idx="14">
                  <c:v>2020Q3</c:v>
                </c:pt>
                <c:pt idx="15">
                  <c:v>2020Q4</c:v>
                </c:pt>
                <c:pt idx="16">
                  <c:v>2021Q1</c:v>
                </c:pt>
                <c:pt idx="17">
                  <c:v>2021Q2</c:v>
                </c:pt>
                <c:pt idx="18">
                  <c:v>2021Q3</c:v>
                </c:pt>
                <c:pt idx="19">
                  <c:v>2021Q4</c:v>
                </c:pt>
                <c:pt idx="20">
                  <c:v>2022Q1</c:v>
                </c:pt>
                <c:pt idx="21">
                  <c:v>2022Q2</c:v>
                </c:pt>
                <c:pt idx="22">
                  <c:v>2022Q3</c:v>
                </c:pt>
                <c:pt idx="23">
                  <c:v>2022Q4</c:v>
                </c:pt>
                <c:pt idx="24">
                  <c:v>2023Q1</c:v>
                </c:pt>
                <c:pt idx="25">
                  <c:v>2023Q2</c:v>
                </c:pt>
                <c:pt idx="26">
                  <c:v>2023Q3</c:v>
                </c:pt>
                <c:pt idx="27">
                  <c:v>2023Q4</c:v>
                </c:pt>
                <c:pt idx="28">
                  <c:v>2024Q1</c:v>
                </c:pt>
                <c:pt idx="29">
                  <c:v>2024Q2</c:v>
                </c:pt>
                <c:pt idx="30">
                  <c:v>2024Q3</c:v>
                </c:pt>
                <c:pt idx="31">
                  <c:v>2024Q4</c:v>
                </c:pt>
                <c:pt idx="32">
                  <c:v>2025Q1</c:v>
                </c:pt>
                <c:pt idx="33">
                  <c:v>2025Q2</c:v>
                </c:pt>
                <c:pt idx="34">
                  <c:v>2025Q3</c:v>
                </c:pt>
                <c:pt idx="35">
                  <c:v>2025Q4</c:v>
                </c:pt>
                <c:pt idx="36">
                  <c:v>2026Q1</c:v>
                </c:pt>
              </c:strCache>
            </c:strRef>
          </c:cat>
          <c:val>
            <c:numRef>
              <c:f>Model!$N$2:$N$38</c:f>
              <c:numCache>
                <c:formatCode>General</c:formatCode>
                <c:ptCount val="37"/>
                <c:pt idx="0">
                  <c:v>-0.41</c:v>
                </c:pt>
                <c:pt idx="1">
                  <c:v>0.44</c:v>
                </c:pt>
                <c:pt idx="2">
                  <c:v>1.73</c:v>
                </c:pt>
                <c:pt idx="3">
                  <c:v>2.92</c:v>
                </c:pt>
                <c:pt idx="4">
                  <c:v>2.72</c:v>
                </c:pt>
                <c:pt idx="5">
                  <c:v>3.86</c:v>
                </c:pt>
                <c:pt idx="6">
                  <c:v>3.11</c:v>
                </c:pt>
                <c:pt idx="7">
                  <c:v>3.23</c:v>
                </c:pt>
                <c:pt idx="8">
                  <c:v>2.84</c:v>
                </c:pt>
                <c:pt idx="9">
                  <c:v>1.69</c:v>
                </c:pt>
                <c:pt idx="10">
                  <c:v>1.43</c:v>
                </c:pt>
                <c:pt idx="11">
                  <c:v>0.7</c:v>
                </c:pt>
                <c:pt idx="12">
                  <c:v>-1.34</c:v>
                </c:pt>
                <c:pt idx="13">
                  <c:v>-7.32</c:v>
                </c:pt>
                <c:pt idx="14">
                  <c:v>-3.69</c:v>
                </c:pt>
                <c:pt idx="15">
                  <c:v>-2.94</c:v>
                </c:pt>
                <c:pt idx="16">
                  <c:v>1.72</c:v>
                </c:pt>
                <c:pt idx="17">
                  <c:v>6.89</c:v>
                </c:pt>
                <c:pt idx="18">
                  <c:v>8.5299999999999994</c:v>
                </c:pt>
                <c:pt idx="19">
                  <c:v>8.98</c:v>
                </c:pt>
                <c:pt idx="20">
                  <c:v>11.17</c:v>
                </c:pt>
                <c:pt idx="21">
                  <c:v>14.49</c:v>
                </c:pt>
                <c:pt idx="22">
                  <c:v>12.98</c:v>
                </c:pt>
                <c:pt idx="23">
                  <c:v>9.61</c:v>
                </c:pt>
                <c:pt idx="24">
                  <c:v>5.52</c:v>
                </c:pt>
                <c:pt idx="25">
                  <c:v>2.68</c:v>
                </c:pt>
                <c:pt idx="26">
                  <c:v>-2.64</c:v>
                </c:pt>
                <c:pt idx="27">
                  <c:v>-2.96</c:v>
                </c:pt>
                <c:pt idx="28">
                  <c:v>0.37</c:v>
                </c:pt>
                <c:pt idx="29">
                  <c:v>1.18</c:v>
                </c:pt>
                <c:pt idx="30">
                  <c:v>3.91</c:v>
                </c:pt>
                <c:pt idx="31">
                  <c:v>5.17</c:v>
                </c:pt>
                <c:pt idx="32">
                  <c:v>3.68</c:v>
                </c:pt>
                <c:pt idx="33">
                  <c:v>4.46</c:v>
                </c:pt>
                <c:pt idx="34">
                  <c:v>4.82</c:v>
                </c:pt>
                <c:pt idx="35">
                  <c:v>5.03</c:v>
                </c:pt>
                <c:pt idx="36">
                  <c:v>2.91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554-1C4E-A4DA-2B1E9D4128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38735552"/>
        <c:axId val="1938740032"/>
      </c:lineChart>
      <c:catAx>
        <c:axId val="1938735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SA"/>
          </a:p>
        </c:txPr>
        <c:crossAx val="1938740032"/>
        <c:crosses val="autoZero"/>
        <c:auto val="1"/>
        <c:lblAlgn val="ctr"/>
        <c:lblOffset val="100"/>
        <c:tickLblSkip val="4"/>
        <c:noMultiLvlLbl val="0"/>
      </c:catAx>
      <c:valAx>
        <c:axId val="1938740032"/>
        <c:scaling>
          <c:orientation val="minMax"/>
          <c:max val="1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SA"/>
          </a:p>
        </c:txPr>
        <c:crossAx val="1938735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800"/>
      </a:pPr>
      <a:endParaRPr lang="en-S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EFA1-F84B-1B5F-5A65-77A3B3D3E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BD4ED-749E-1F0D-41A4-BF3F03FD7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FF91A-43A8-91FD-9891-6C95B62B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06/05/2026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67DE3-4A1D-D1F8-A788-91D365450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1B431-5403-11C8-3CBC-2809C41A2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31962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4B6E1-940F-F960-CE80-AA8A439A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5D6A1-1F38-D676-5F84-67D9917C7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039E7-50CB-D8E4-5CF0-6367C069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06/05/2026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ACED8-BD0F-E282-1672-B19D6641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47825-EBD2-800E-C1EF-52F436BF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277211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678EB-16D8-0E95-0E32-85A0F024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3683E-24B4-0968-1AE8-8DC3027AF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11696-32AD-E6EE-A9C0-BCED4650E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06/05/2026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7C273-5A57-E530-077D-FAB57273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E16A7-624F-135F-72DB-E9A81D22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58268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5BFB-1053-293A-517D-15D97A04F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F2644-6156-2FE3-5791-888BA60DE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80B31-B1CA-33BE-177D-255A133A9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F10AB-A17A-C6D5-511B-B13D580F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06/05/2026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DA9D6-A833-FF47-8075-5945D881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91812-5F8D-19E7-BD10-B11E2FF0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7958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62F4-4CF8-DDD8-E32D-07FA44076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F30C6-0FEF-4449-6BD8-CDB764ABF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5DA62-1943-058C-4C39-043CA864C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E8E532-828A-8B72-50FF-E5FB56D20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7B179F-54F4-38D6-3C7F-3B05D1ECD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D0E01A-65A0-22B6-B75F-5DDC0C5DB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06/05/2026 R</a:t>
            </a:fld>
            <a:endParaRPr lang="en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C364DF-CF92-C3C0-913E-B008DFB81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E960FC-B05B-4820-2282-077D5F715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043514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6D95-69D9-D9F6-5D56-109863964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F1110-2B8F-09EF-A832-81A194B5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06/05/2026 R</a:t>
            </a:fld>
            <a:endParaRPr lang="en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12BCD-479D-D485-CEAE-05F11992F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F6A68-8DE9-4F36-16A8-3CDEE1E1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13090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098C30-D8D6-7A5F-C2CB-AC9A1729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06/05/2026 R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4DECE-787D-D4AB-9B3D-0311F874E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42533-E98C-5A53-D121-775B8BD8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53563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1BBE-D020-1632-E3E7-4507D487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7CBE8-167A-EB21-CD08-6694D245C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5C2C8-75B5-BA00-8299-E40EC5286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56FB0-7BA3-6D07-DBF9-211600F68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06/05/2026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1A1B5-CD3A-1DFF-BB08-17E9D6B50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3F0BC-FA3E-3562-A2AA-64F43854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045771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7176-41A8-1144-FD01-C94FE3DC7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EA2D55-CC4B-1C8D-511E-6F356EAA6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ACA02-FD5D-654A-81BD-EEC9ACFC3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D4A05-186A-4E13-80BD-ADB3B5CA7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06/05/2026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44230-36F6-188F-454B-38B19ACE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6D661-9C61-0F1E-A044-4AC658D6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48302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22F1-DC5A-8777-F8E7-FFF38C6A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B2A89-9575-B4FA-A0C0-8F9C4D9BB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CD599-8A69-7BAC-BFE8-CDDF8C08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06/05/2026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381C9-7249-7771-AB6D-F7A6B0DB6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26074-2907-1923-96D2-1CA219B7F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94506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D9EC84-031F-CD89-751D-3A02153BD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896EE-0A5A-5F01-40F9-252E06C3C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47DAF-BA63-3978-4AC4-F1AB1239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AAE6E-7D3D-864D-9E38-C71F3F06BB9E}" type="datetimeFigureOut">
              <a:rPr lang="en-SA" smtClean="0"/>
              <a:t>06/05/2026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099CF-B3A8-6F8E-75C5-2F5EA4A3E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3C8FB-6636-492A-4E1F-5D718034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172654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99965-42C8-631E-B3D6-D39A9A5BB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68F43-532C-64FA-DFC0-C459DC2E1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8AC32-32B5-02DF-22D8-32B9DE732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AAE6E-7D3D-864D-9E38-C71F3F06BB9E}" type="datetimeFigureOut">
              <a:rPr lang="en-SA" smtClean="0"/>
              <a:t>06/05/2026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D53E4-FC75-4C40-48BC-70F5AFE14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C0D2E-A546-D164-FC1E-DC33FCAA5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500A0-71F5-9240-A82D-66EE32D89416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3821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646B6-B375-6C5C-6322-AD36A4A4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Real GDP Growth Nowcasting for Q1 2026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6330458-1E69-0F69-E945-1A2EE0D14A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7471718"/>
              </p:ext>
            </p:extLst>
          </p:nvPr>
        </p:nvGraphicFramePr>
        <p:xfrm>
          <a:off x="432225" y="1727200"/>
          <a:ext cx="11327549" cy="4691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05B23CD-C3C0-742F-A38A-784CAAD569F6}"/>
              </a:ext>
            </a:extLst>
          </p:cNvPr>
          <p:cNvSpPr/>
          <p:nvPr/>
        </p:nvSpPr>
        <p:spPr>
          <a:xfrm>
            <a:off x="11052893" y="1727200"/>
            <a:ext cx="547306" cy="4691253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DC17F2-CEF6-0579-BAFF-EB587FF7C36D}"/>
              </a:ext>
            </a:extLst>
          </p:cNvPr>
          <p:cNvSpPr txBox="1"/>
          <p:nvPr/>
        </p:nvSpPr>
        <p:spPr>
          <a:xfrm>
            <a:off x="432225" y="1822348"/>
            <a:ext cx="334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A" sz="1100" b="1" dirty="0"/>
              <a:t>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B361F5-A0C9-75BA-4CDF-F8CBAD7F0383}"/>
              </a:ext>
            </a:extLst>
          </p:cNvPr>
          <p:cNvSpPr txBox="1"/>
          <p:nvPr/>
        </p:nvSpPr>
        <p:spPr>
          <a:xfrm>
            <a:off x="432225" y="6595288"/>
            <a:ext cx="68962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GASTAT, “</a:t>
            </a:r>
            <a:r>
              <a:rPr lang="en-US" sz="900" b="1" dirty="0"/>
              <a:t>Q1 2026 </a:t>
            </a:r>
            <a:r>
              <a:rPr lang="en-US" sz="900" dirty="0"/>
              <a:t>value represents author's ARIMAX nowcast.”</a:t>
            </a:r>
            <a:endParaRPr lang="en-SA" sz="900" dirty="0"/>
          </a:p>
        </p:txBody>
      </p:sp>
    </p:spTree>
    <p:extLst>
      <p:ext uri="{BB962C8B-B14F-4D97-AF65-F5344CB8AC3E}">
        <p14:creationId xmlns:p14="http://schemas.microsoft.com/office/powerpoint/2010/main" val="3468891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Real GDP Growth Nowcasting for Q1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Jamaan Abdulaziz</dc:creator>
  <cp:lastModifiedBy>Jamaan Abdulaziz</cp:lastModifiedBy>
  <cp:revision>1</cp:revision>
  <dcterms:created xsi:type="dcterms:W3CDTF">2026-05-06T02:38:08Z</dcterms:created>
  <dcterms:modified xsi:type="dcterms:W3CDTF">2026-05-06T02:52:53Z</dcterms:modified>
</cp:coreProperties>
</file>